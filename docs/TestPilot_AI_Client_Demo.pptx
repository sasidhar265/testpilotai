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CLIENT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3F7FF"/>
                </a:solidFill>
                <a:latin typeface="Aptos"/>
              </a:defRPr>
            </a:pPr>
            <a:r>
              <a:t>From requirements to</a:t>
            </a:r>
            <a:br/>
            <a:r>
              <a:t>automation-ready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52928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EF9D6"/>
                </a:solidFill>
                <a:latin typeface="Aptos"/>
              </a:defRPr>
            </a:pPr>
            <a:r>
              <a:t>A governed GitHub Copilot test-design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40156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Manual test steps  ·  SpecFlow BDD  ·  Automation/manual feasibility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97280"/>
            <a:ext cx="2468880" cy="338328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63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1490472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7EF9D6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51460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EF9D6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92608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3F7FF"/>
                </a:solidFill>
                <a:latin typeface="Aptos"/>
              </a:defRPr>
            </a:pPr>
            <a:r>
              <a:t>Sole AI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401568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6A3B8"/>
                </a:solidFill>
                <a:latin typeface="Aptos"/>
              </a:defRPr>
            </a:pPr>
            <a:r>
              <a:t>Local application</a:t>
            </a:r>
            <a:br/>
            <a:r>
              <a:t>Human-reviewed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Accelerate the first test-design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A focused assistant for quality engineers—not autonomous 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7C9B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Requirements must be translated into consistent scenarios before automation starts. This is repetitive, variable, and review intensive.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Generate 4–5 risk-focused scenarios with steps, expected results, SpecFlow Gherkin, synthetic data, and feasibility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329184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51760"/>
            <a:ext cx="3072384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Faster initial design, clearer automation candidates, explicit manual coverage, and controlled export or Jira publication.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What the POC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A concise, review-first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Transforms a story, feature description, or acceptance criteria into structured tests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Produces manual test steps or copy-ready SpecFlow BDD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Uses Scenario Outline and Examples for meaningful data-driven coverage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Segregates automation-feasible and manual scenarios with a rationale</a:t>
            </a:r>
          </a:p>
          <a:p>
            <a:pPr>
              <a:spcAft>
                <a:spcPts val="1200"/>
              </a:spcAft>
              <a:defRPr sz="1500">
                <a:solidFill>
                  <a:srgbClr val="F3F7FF"/>
                </a:solidFill>
                <a:latin typeface="Aptos"/>
              </a:defRPr>
            </a:pPr>
            <a:r>
              <a:t>•  Exports JSON/CSV and publishes selected cases to Jira only on explicit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828800"/>
            <a:ext cx="32004" cy="3566160"/>
          </a:xfrm>
          <a:prstGeom prst="rect">
            <a:avLst/>
          </a:prstGeom>
          <a:solidFill>
            <a:srgbClr val="7EF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79" y="1874519"/>
            <a:ext cx="3566160" cy="16002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2011679"/>
            <a:ext cx="31638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258568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Designed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697479"/>
            <a:ext cx="316382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Generated output is a draft. The tester owns coverage, domain accuracy, automation implementation, and execution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03320"/>
            <a:ext cx="3566160" cy="141732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840480"/>
            <a:ext cx="31638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087368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Predictable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526279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4–5 high-level scenarios keep latency and Copilot premium-request use practical.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Live execution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Local orchestration with one approved hosted AI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Story +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Local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Agent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Fail-closed 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Copilot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Authenticated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5592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GitHub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Organization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7919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3D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2084831"/>
            <a:ext cx="1572768" cy="1572768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0424" y="224028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0424" y="2587752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3F7FF"/>
                </a:solidFill>
                <a:latin typeface="Aptos"/>
              </a:defRPr>
            </a:pPr>
            <a:r>
              <a:t>Quality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3026664"/>
            <a:ext cx="1298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6A3B8"/>
                </a:solidFill>
                <a:latin typeface="Aptos"/>
              </a:defRPr>
            </a:pPr>
            <a:r>
              <a:t>Validate + 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041648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3D9FF"/>
                </a:solidFill>
                <a:latin typeface="Aptos"/>
              </a:defRPr>
            </a:pPr>
            <a:r>
              <a:t>LOCAL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041648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78BFA"/>
                </a:solidFill>
                <a:latin typeface="Aptos"/>
              </a:defRPr>
            </a:pPr>
            <a:r>
              <a:t>GITHUB-HOSTED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4041648"/>
            <a:ext cx="15727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7EF9D6"/>
                </a:solidFill>
                <a:latin typeface="Aptos"/>
              </a:defRPr>
            </a:pPr>
            <a:r>
              <a:t>LOCAL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6A3B8"/>
                </a:solidFill>
                <a:latin typeface="Aptos"/>
              </a:defRPr>
            </a:pPr>
            <a:r>
              <a:t>Only the restricted generation request leaves the local application. Jira is a separate, explicit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Three distinct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Clear accountability for model, behavior, and control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Selection: organization-default</a:t>
            </a:r>
            <a:br/>
            <a:r>
              <a:t>Gateway: GitHub Copilot</a:t>
            </a:r>
            <a:br/>
            <a:r>
              <a:t>Entitlement: signed-in organization user</a:t>
            </a:r>
            <a:br/>
            <a:r>
              <a:t>No direct provider API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Test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Senior QA role</a:t>
            </a:r>
            <a:br/>
            <a:r>
              <a:t>Normal + SpecFlow BDD</a:t>
            </a:r>
            <a:br/>
            <a:r>
              <a:t>4–5 structured scenarios</a:t>
            </a:r>
            <a:br/>
            <a:r>
              <a:t>Automation/manual feasibility</a:t>
            </a:r>
            <a:br/>
            <a:r>
              <a:t>Synthetic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74720" cy="342900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65960"/>
            <a:ext cx="30723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12848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Local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651760"/>
            <a:ext cx="307238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FastAPI + Uvicorn</a:t>
            </a:r>
            <a:br/>
            <a:r>
              <a:t>TestGenerationService</a:t>
            </a:r>
            <a:br/>
            <a:r>
              <a:t>AgentRegistry policy gate</a:t>
            </a:r>
            <a:br/>
            <a:r>
              <a:t>Pydantic validation</a:t>
            </a:r>
            <a:br/>
            <a:r>
              <a:t>Deduplication and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Copilot-only and fail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Controls are implemented in code, not only documented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73609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AgentRegistry rejects every runtime ID except github-copilot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No OpenAI, Anthropic-direct, Ollama, BYOK, or fallback adapter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Tools, MCP servers, skills, memory, file writes, hooks, and Git operations disabled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Model output treated as untrusted and validated with Pydantic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External calls are mocked in CI; automated tests consume no Copilot requests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Jira publication is explicit, selective, and least privileged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755648"/>
            <a:ext cx="32004" cy="4069080"/>
          </a:xfrm>
          <a:prstGeom prst="rect">
            <a:avLst/>
          </a:prstGeom>
          <a:solidFill>
            <a:srgbClr val="7EF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41080" y="1901952"/>
            <a:ext cx="2606040" cy="260604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3317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96A3B8"/>
                </a:solidFill>
                <a:latin typeface="Aptos"/>
              </a:defRPr>
            </a:pPr>
            <a:r>
              <a:t>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260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EF9D6"/>
                </a:solidFill>
                <a:latin typeface="Aptos Mono"/>
              </a:defRPr>
            </a:pPr>
            <a:r>
              <a:t>github-copilot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35844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3F7FF"/>
                </a:solidFill>
                <a:latin typeface="Aptos"/>
              </a:defRPr>
            </a:pPr>
            <a:r>
              <a:t>approved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Demo 1 — Manual test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Password-reset story with time-limited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79476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3392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2140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339242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 registered customer resets a password using a 15-minute email link. Used links cannot be reused; password policy applies; successful reset invalidates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297180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874519"/>
            <a:ext cx="25694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21408"/>
            <a:ext cx="2569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Generated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60320"/>
            <a:ext cx="256946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Category + priority</a:t>
            </a:r>
            <a:br/>
            <a:r>
              <a:t>Automation/manual classification</a:t>
            </a:r>
            <a:br/>
            <a:r>
              <a:t>Feasibility rationale</a:t>
            </a:r>
            <a:br/>
            <a:r>
              <a:t>Preconditions</a:t>
            </a:r>
            <a:br/>
            <a:r>
              <a:t>1–2 concise steps</a:t>
            </a:r>
            <a:br/>
            <a:r>
              <a:t>Observable expected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737360"/>
            <a:ext cx="3794760" cy="35661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874519"/>
            <a:ext cx="3392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TALK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121408"/>
            <a:ext cx="3392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Presenter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560320"/>
            <a:ext cx="339242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Show the small risk-based suite, point out classification chips, inspect rationale, then export JSON or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Demo 2 — SpecFlow-ready BDD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Copy one scenario or an entire .feature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6537960" cy="4251960"/>
          </a:xfrm>
          <a:prstGeom prst="roundRect">
            <a:avLst/>
          </a:prstGeom>
          <a:solidFill>
            <a:srgbClr val="080C14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56816"/>
            <a:ext cx="60350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EF9D6"/>
                </a:solidFill>
                <a:latin typeface="Aptos Mono"/>
              </a:defRPr>
            </a:pPr>
            <a:r>
              <a:t>Scenario Outline: Reject an invalid reset attempt</a:t>
            </a:r>
            <a:br/>
            <a:r>
              <a:t>  Given a reset link is &lt;link_state&gt;</a:t>
            </a:r>
            <a:br/>
            <a:r>
              <a:t>  When the customer submits &lt;new_password&gt;</a:t>
            </a:r>
            <a:br/>
            <a:r>
              <a:t>  Then the reset is rejected with &lt;message&gt;</a:t>
            </a:r>
            <a:br/>
            <a:br/>
            <a:r>
              <a:t>Examples:</a:t>
            </a:r>
            <a:br/>
            <a:r>
              <a:t>  | link_state | new_password | message      |</a:t>
            </a:r>
            <a:br/>
            <a:r>
              <a:t>  | expired    | Valid#Pass12 | Link expired |</a:t>
            </a:r>
            <a:br/>
            <a:r>
              <a:t>  | used       | Valid#Pass12 | Link used    |</a:t>
            </a:r>
            <a:br/>
            <a:r>
              <a:t>  | valid      | short        | Invalid pwd  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4114800" cy="416052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874519"/>
            <a:ext cx="3712463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SPECFLOW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121408"/>
            <a:ext cx="37124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Automation hand-off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560320"/>
            <a:ext cx="3712463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Scenario for a single flow</a:t>
            </a:r>
            <a:br/>
            <a:r>
              <a:t>Scenario Outline for repeated data</a:t>
            </a:r>
            <a:br/>
            <a:r>
              <a:t>Examples tables with placeholders</a:t>
            </a:r>
            <a:br/>
            <a:r>
              <a:t>Reusable, implementation-neutral steps</a:t>
            </a:r>
            <a:br/>
            <a:r>
              <a:t>Copy Scenario / Copy BDD Feature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Automation and manual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The agent explains—not merely labels—the execution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9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AT LEAST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06040"/>
            <a:ext cx="480974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Repeatable and deterministic</a:t>
            </a:r>
            <a:br/>
            <a:r>
              <a:t>Stable UI/API/system interface</a:t>
            </a:r>
            <a:br/>
            <a:r>
              <a:t>Observable assertions</a:t>
            </a:r>
            <a:br/>
            <a:r>
              <a:t>High rerun value</a:t>
            </a:r>
            <a:br/>
            <a:r>
              <a:t>Examples: authentication rules, link states, session invalidation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212080" cy="361188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09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AT LEAST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8"/>
            <a:ext cx="48097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809744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Exploratory behavior</a:t>
            </a:r>
            <a:br/>
            <a:r>
              <a:t>Subjective usability or visual clarity</a:t>
            </a:r>
            <a:br/>
            <a:r>
              <a:t>Human accessibility experience</a:t>
            </a:r>
            <a:br/>
            <a:r>
              <a:t>Physical/CAPTCHA/biometric dependency</a:t>
            </a:r>
            <a:br/>
            <a:r>
              <a:t>Poor automation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3D9FF"/>
                </a:solidFill>
                <a:latin typeface="Aptos"/>
              </a:defRPr>
            </a:pPr>
            <a:r>
              <a:t>Guardrail: complexity alone is not a valid reason to classify a test as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Controlled downstream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Human approval remains in the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Copy an individual Gherkin scenario or a complete SpecFlow Feature block to the clipboard.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Download the validated suite as CSV or JSON for review, evidence, or downstream transformation.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Choose which scenarios are eligible for publication rather than sending the complete draft.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560320" cy="31089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965960"/>
            <a:ext cx="21579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F7C9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212848"/>
            <a:ext cx="2157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651760"/>
            <a:ext cx="215798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Attach selected cases and add a summary only after the tester explicitly initiates publishing.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POC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What this demonstration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Transparent limitations support responsible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Generated scenarios are suggestions, not proof of complete coverage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The POC does not execute tests or generate SpecFlow step-definition code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Gherkin requires alignment with the client's domain vocabulary and shared bindings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No application user management, RBAC, audit database, or persistent suite history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Copilot model availability, latency, limits, and billing follow organization policy</a:t>
            </a:r>
          </a:p>
          <a:p>
            <a:pPr>
              <a:spcAft>
                <a:spcPts val="1200"/>
              </a:spcAft>
              <a:defRPr sz="1400">
                <a:solidFill>
                  <a:srgbClr val="F3F7FF"/>
                </a:solidFill>
                <a:latin typeface="Aptos"/>
              </a:defRPr>
            </a:pPr>
            <a:r>
              <a:t>•  Current Jira integration attaches CSV; it is not an Xray or Zephyr 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2004" cy="4343400"/>
          </a:xfrm>
          <a:prstGeom prst="rect">
            <a:avLst/>
          </a:prstGeom>
          <a:solidFill>
            <a:srgbClr val="FF7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PRESENTER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10-minute client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Keep the narrative focused on value, controls, and measurable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00–01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2763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Problem and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737360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01–02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24028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Architecture and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350008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02–04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85292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Normal scenario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962656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6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04–07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65576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SpecFlow BDD +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75304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7822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07–08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78224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Automation/manual mix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4187952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90872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08–09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69087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Export and Jira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800600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EF9D6"/>
                </a:solidFill>
                <a:latin typeface="Aptos Mono"/>
              </a:defRPr>
            </a:pPr>
            <a:r>
              <a:t>09–10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30352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3F7FF"/>
                </a:solidFill>
                <a:latin typeface="Aptos"/>
              </a:defRPr>
            </a:pPr>
            <a:r>
              <a:t>Limitations and pilot proposal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5413248"/>
            <a:ext cx="3840480" cy="18288"/>
          </a:xfrm>
          <a:prstGeom prst="rect">
            <a:avLst/>
          </a:prstGeom>
          <a:solidFill>
            <a:srgbClr val="3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3F7FF"/>
                </a:solidFill>
                <a:latin typeface="Aptos"/>
              </a:defRPr>
            </a:pPr>
            <a:r>
              <a:t>Move from POC to a measured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6A3B8"/>
                </a:solidFill>
                <a:latin typeface="Aptos"/>
              </a:defRPr>
            </a:pPr>
            <a:r>
              <a:t>Validate usefulness, edit effort, latency, governance, and adoption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Select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Choose 2–3 representative, non-sensitive client journeys.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Define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Track design time, usefulness, edit rate, and review defects.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320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5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EF9D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5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Align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5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Map Gherkin to the client's SpecFlow vocabulary and bindings.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4927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Review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Agree Copilot policy, model, budget, privacy, logs, and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74519"/>
            <a:ext cx="2103120" cy="3337560"/>
          </a:xfrm>
          <a:prstGeom prst="roundRect">
            <a:avLst/>
          </a:prstGeom>
          <a:solidFill>
            <a:srgbClr val="101728"/>
          </a:solidFill>
          <a:ln w="12700">
            <a:solidFill>
              <a:srgbClr val="35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2011679"/>
            <a:ext cx="1700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63D9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258568"/>
            <a:ext cx="17007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3F7FF"/>
                </a:solidFill>
                <a:latin typeface="Aptos"/>
              </a:defRPr>
            </a:pPr>
            <a:r>
              <a:t>Run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2697479"/>
            <a:ext cx="170078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96A3B8"/>
                </a:solidFill>
                <a:latin typeface="Aptos"/>
              </a:defRPr>
            </a:pPr>
            <a:r>
              <a:t>Time-box tester usage and capture structured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EF9D6"/>
                </a:solidFill>
                <a:latin typeface="Aptos"/>
              </a:defRPr>
            </a:pPr>
            <a:r>
              <a:t>TESTPILOT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011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96A3B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680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3F7FF"/>
                </a:solidFill>
                <a:latin typeface="Aptos"/>
              </a:defRPr>
            </a:pPr>
            <a:r>
              <a:t>Accelerate design.</a:t>
            </a:r>
            <a:br/>
            <a:r>
              <a:t>Preserve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44368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6A3B8"/>
                </a:solidFill>
                <a:latin typeface="Aptos"/>
              </a:defRPr>
            </a:pPr>
            <a:r>
              <a:t>A governed path from requirements to an initial automation-ready test design using the organization’s GitHub Copilot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280160"/>
            <a:ext cx="2423160" cy="2971800"/>
          </a:xfrm>
          <a:prstGeom prst="roundRect">
            <a:avLst/>
          </a:prstGeom>
          <a:solidFill>
            <a:srgbClr val="161F33"/>
          </a:solidFill>
          <a:ln w="12700">
            <a:solidFill>
              <a:srgbClr val="7EF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20116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7EF9D6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4352" y="2560320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3F7FF"/>
                </a:solidFill>
                <a:latin typeface="Aptos"/>
              </a:defRPr>
            </a:pPr>
            <a:r>
              <a:t>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273552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3D9FF"/>
                </a:solidFill>
                <a:latin typeface="Aptos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TestPilot AI — Client Demonstration</dc:title>
  <dc:subject>GitHub Copilot-powered test design POC</dc:subject>
  <dc:creator>TestPilot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